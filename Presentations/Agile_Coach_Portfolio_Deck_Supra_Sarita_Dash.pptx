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Tight"/>
      <p:regular r:id="rId201314"/>
    </p:embeddedFont>
    <p:embeddedFont>
      <p:font typeface="Inter Tight Medium"/>
      <p:regular r:id="rId201315"/>
    </p:embeddedFont>
    <p:embeddedFont>
      <p:font typeface="Inter Tigh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4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sv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3.png"/><Relationship Id="rId6" Type="http://schemas.openxmlformats.org/officeDocument/2006/relationships/image" Target="../media/image-4-4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7.png"/><Relationship Id="rId10" Type="http://schemas.openxmlformats.org/officeDocument/2006/relationships/image" Target="../media/image-4-8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2.png"/><Relationship Id="rId11" Type="http://schemas.openxmlformats.org/officeDocument/2006/relationships/image" Target="../media/image-9-3.svg"/><Relationship Id="rId12" Type="http://schemas.openxmlformats.org/officeDocument/2006/relationships/image" Target="../media/image-9-12.png"/><Relationship Id="rId13" Type="http://schemas.openxmlformats.org/officeDocument/2006/relationships/image" Target="../media/image-9-13.svg"/><Relationship Id="rId14" Type="http://schemas.openxmlformats.org/officeDocument/2006/relationships/image" Target="../media/image-9-2.png"/><Relationship Id="rId15" Type="http://schemas.openxmlformats.org/officeDocument/2006/relationships/image" Target="../media/image-9-3.svg"/><Relationship Id="rId16" Type="http://schemas.openxmlformats.org/officeDocument/2006/relationships/image" Target="../media/image-9-16.png"/><Relationship Id="rId17" Type="http://schemas.openxmlformats.org/officeDocument/2006/relationships/image" Target="../media/image-9-17.svg"/><Relationship Id="rId18" Type="http://schemas.openxmlformats.org/officeDocument/2006/relationships/image" Target="../media/image-9-2.png"/><Relationship Id="rId19" Type="http://schemas.openxmlformats.org/officeDocument/2006/relationships/image" Target="../media/image-9-3.svg"/><Relationship Id="rId20" Type="http://schemas.openxmlformats.org/officeDocument/2006/relationships/image" Target="../media/image-9-20.png"/><Relationship Id="rId21" Type="http://schemas.openxmlformats.org/officeDocument/2006/relationships/image" Target="../media/image-9-21.svg"/><Relationship Id="rId22" Type="http://schemas.openxmlformats.org/officeDocument/2006/relationships/image" Target="../media/image-9-2.png"/><Relationship Id="rId23" Type="http://schemas.openxmlformats.org/officeDocument/2006/relationships/image" Target="../media/image-9-3.svg"/><Relationship Id="rId24" Type="http://schemas.openxmlformats.org/officeDocument/2006/relationships/image" Target="../media/image-9-24.png"/><Relationship Id="rId25" Type="http://schemas.openxmlformats.org/officeDocument/2006/relationships/image" Target="../media/image-9-25.svg"/><Relationship Id="rId26" Type="http://schemas.openxmlformats.org/officeDocument/2006/relationships/slideLayout" Target="../slideLayouts/slideLayout3.xml"/><Relationship Id="rId2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supra-bharat.com" TargetMode="External"/><Relationship Id="rId2" Type="http://schemas.openxmlformats.org/officeDocument/2006/relationships/hyperlink" Target="https://www.linkedin.com/in/supra-sarita-dash-86434738/" TargetMode="External"/><Relationship Id="rId3" Type="http://schemas.openxmlformats.org/officeDocument/2006/relationships/hyperlink" Target="https://github.com/SupraSaritaDash-SSD" TargetMode="Externa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846" y="869057"/>
            <a:ext cx="10988003" cy="60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spcAft>
                <a:spcPts val="1500"/>
              </a:spcAft>
              <a:buNone/>
            </a:pP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1846" y="1733054"/>
            <a:ext cx="10988003" cy="9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Supra Sarita Dash</a:t>
            </a:r>
            <a:endParaRPr lang="en-US" sz="6450" dirty="0"/>
          </a:p>
        </p:txBody>
      </p:sp>
      <p:sp>
        <p:nvSpPr>
          <p:cNvPr id="4" name="Text 2"/>
          <p:cNvSpPr/>
          <p:nvPr/>
        </p:nvSpPr>
        <p:spPr>
          <a:xfrm>
            <a:off x="601846" y="2979936"/>
            <a:ext cx="10988003" cy="1146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7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Agile Coach | Corporate Trainer | Executive Coach | AI Enablement Consultant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297054" y="4384477"/>
            <a:ext cx="11597588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1846" y="4827191"/>
            <a:ext cx="10988003" cy="19050"/>
          </a:xfrm>
          <a:prstGeom prst="roundRect">
            <a:avLst>
              <a:gd name="adj" fmla="val 49999"/>
            </a:avLst>
          </a:prstGeom>
          <a:solidFill>
            <a:srgbClr val="B5B5B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01846" y="5082679"/>
            <a:ext cx="10988003" cy="60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Transforming Teams  •  Developing Leaders  •  Enabling AI Adoption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31703" y="5882184"/>
            <a:ext cx="1514536" cy="261441"/>
          </a:xfrm>
          <a:prstGeom prst="roundRect">
            <a:avLst>
              <a:gd name="adj" fmla="val 47364"/>
            </a:avLst>
          </a:prstGeom>
          <a:noFill/>
          <a:ln w="6350">
            <a:solidFill>
              <a:srgbClr val="FE6A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4888" y="5933777"/>
            <a:ext cx="1917751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SUPRBH VOYAGE LLP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32161" y="5882184"/>
            <a:ext cx="1527732" cy="261441"/>
          </a:xfrm>
          <a:prstGeom prst="roundRect">
            <a:avLst>
              <a:gd name="adj" fmla="val 47364"/>
            </a:avLst>
          </a:prstGeom>
          <a:noFill/>
          <a:ln w="6350">
            <a:solidFill>
              <a:srgbClr val="FE6A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5346" y="5933777"/>
            <a:ext cx="1930947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SUPRA-BHARAT.COM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1846" y="530324"/>
            <a:ext cx="857725" cy="261441"/>
          </a:xfrm>
          <a:prstGeom prst="roundRect">
            <a:avLst>
              <a:gd name="adj" fmla="val 47364"/>
            </a:avLst>
          </a:prstGeom>
          <a:solidFill>
            <a:srgbClr val="4C1F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031" y="592237"/>
            <a:ext cx="137514" cy="1375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1301" y="581918"/>
            <a:ext cx="1054669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ABOUT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1846" y="860524"/>
            <a:ext cx="10988003" cy="716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7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Professional Snapshot</a:t>
            </a:r>
            <a:endParaRPr lang="en-US" sz="4700" dirty="0"/>
          </a:p>
        </p:txBody>
      </p:sp>
      <p:sp>
        <p:nvSpPr>
          <p:cNvPr id="6" name="Text 3"/>
          <p:cNvSpPr/>
          <p:nvPr/>
        </p:nvSpPr>
        <p:spPr>
          <a:xfrm>
            <a:off x="601846" y="1835051"/>
            <a:ext cx="10988003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 seasoned practitioner with over a decade of hands-on experience driving agile transformations, developing leaders, and delivering measurable business outcomes across global enterprises.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1846" y="2720479"/>
            <a:ext cx="3573075" cy="56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13+</a:t>
            </a:r>
            <a:endParaRPr lang="en-US" sz="4450" dirty="0"/>
          </a:p>
        </p:txBody>
      </p:sp>
      <p:sp>
        <p:nvSpPr>
          <p:cNvPr id="8" name="Text 5"/>
          <p:cNvSpPr/>
          <p:nvPr/>
        </p:nvSpPr>
        <p:spPr>
          <a:xfrm>
            <a:off x="601846" y="3502918"/>
            <a:ext cx="3573075" cy="35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Years of Experience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601846" y="4033044"/>
            <a:ext cx="3573075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Across industry &amp; enterprise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600758" y="2634555"/>
            <a:ext cx="2217087" cy="2228255"/>
          </a:xfrm>
          <a:prstGeom prst="roundRect">
            <a:avLst>
              <a:gd name="adj" fmla="val 6981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79049" y="2812852"/>
            <a:ext cx="1860503" cy="1080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🏦</a:t>
            </a:r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Banking &amp; Financial Services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4779049" y="4065687"/>
            <a:ext cx="1860503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Enterprise agile adoption in regulated environments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989786" y="2634555"/>
            <a:ext cx="2217186" cy="2228255"/>
          </a:xfrm>
          <a:prstGeom prst="roundRect">
            <a:avLst>
              <a:gd name="adj" fmla="val 6981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68078" y="2812852"/>
            <a:ext cx="1860603" cy="1080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Technology &amp; IT Services</a:t>
            </a:r>
            <a:endParaRPr lang="en-US" sz="2350" dirty="0"/>
          </a:p>
        </p:txBody>
      </p:sp>
      <p:sp>
        <p:nvSpPr>
          <p:cNvPr id="15" name="Text 12"/>
          <p:cNvSpPr/>
          <p:nvPr/>
        </p:nvSpPr>
        <p:spPr>
          <a:xfrm>
            <a:off x="7168078" y="4065687"/>
            <a:ext cx="1860603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Agile transformation &amp; product delivery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378914" y="2634555"/>
            <a:ext cx="2217186" cy="2228255"/>
          </a:xfrm>
          <a:prstGeom prst="roundRect">
            <a:avLst>
              <a:gd name="adj" fmla="val 6981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57205" y="2812852"/>
            <a:ext cx="1860603" cy="1080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Agile Transformation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9557205" y="4065687"/>
            <a:ext cx="1860603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SAFe, Scrum, Kanban &amp; hybrid frameworks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600758" y="5034756"/>
            <a:ext cx="6995342" cy="1099344"/>
          </a:xfrm>
          <a:prstGeom prst="roundRect">
            <a:avLst>
              <a:gd name="adj" fmla="val 14080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79049" y="5213052"/>
            <a:ext cx="6638759" cy="364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Leadership Development</a:t>
            </a:r>
            <a:endParaRPr lang="en-US" sz="2350" dirty="0"/>
          </a:p>
        </p:txBody>
      </p:sp>
      <p:sp>
        <p:nvSpPr>
          <p:cNvPr id="21" name="Text 18"/>
          <p:cNvSpPr/>
          <p:nvPr/>
        </p:nvSpPr>
        <p:spPr>
          <a:xfrm>
            <a:off x="4779049" y="5749528"/>
            <a:ext cx="663875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Coaching executives, managers &amp; teams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1846" y="510580"/>
            <a:ext cx="842545" cy="248245"/>
          </a:xfrm>
          <a:prstGeom prst="roundRect">
            <a:avLst>
              <a:gd name="adj" fmla="val 47387"/>
            </a:avLst>
          </a:prstGeom>
          <a:solidFill>
            <a:srgbClr val="4C1F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72" y="569317"/>
            <a:ext cx="130668" cy="1306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5824" y="559594"/>
            <a:ext cx="1060126" cy="15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IMPACT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01846" y="820837"/>
            <a:ext cx="10988003" cy="680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Business Outcomes Delivered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601846" y="1734344"/>
            <a:ext cx="1158984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Tangible results that matter to executives, boards, and transformation leads.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846" y="2099965"/>
            <a:ext cx="326719" cy="3267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1846" y="2620665"/>
            <a:ext cx="5396968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Faster Delivery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01846" y="3054052"/>
            <a:ext cx="539696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Reduced time-to-market through agile cadences and continuous flow optimization.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2782" y="2099965"/>
            <a:ext cx="326719" cy="3267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92782" y="2620665"/>
            <a:ext cx="5397067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Improved Team Performance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192782" y="3054052"/>
            <a:ext cx="5397067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Higher velocity, better morale, and self-organizing teams that sustain momentum.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846" y="3746599"/>
            <a:ext cx="326719" cy="32672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1846" y="4267299"/>
            <a:ext cx="5396968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Stakeholder Alignment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601846" y="4700687"/>
            <a:ext cx="539696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Clearer priorities, unified OKRs, and transparent portfolio visibility.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92782" y="3746599"/>
            <a:ext cx="326719" cy="32672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92782" y="4267299"/>
            <a:ext cx="5397067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Leadership Capability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6192782" y="4700687"/>
            <a:ext cx="539706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Empowered leaders who coach, inspire, and drive adaptive change.</a:t>
            </a:r>
            <a:endParaRPr lang="en-US" sz="12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1846" y="5202138"/>
            <a:ext cx="326719" cy="32672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01846" y="5722838"/>
            <a:ext cx="5396968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Business Agility</a:t>
            </a:r>
            <a:endParaRPr lang="en-US" sz="2200" dirty="0"/>
          </a:p>
        </p:txBody>
      </p:sp>
      <p:sp>
        <p:nvSpPr>
          <p:cNvPr id="21" name="Text 13"/>
          <p:cNvSpPr/>
          <p:nvPr/>
        </p:nvSpPr>
        <p:spPr>
          <a:xfrm>
            <a:off x="601846" y="6156226"/>
            <a:ext cx="539696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Organizations that sense and respond faster than the competition.</a:t>
            </a:r>
            <a:endParaRPr lang="en-US" sz="12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92782" y="5202138"/>
            <a:ext cx="326719" cy="326727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192782" y="5722838"/>
            <a:ext cx="5397067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AI Adoption</a:t>
            </a:r>
            <a:endParaRPr lang="en-US" sz="2200" dirty="0"/>
          </a:p>
        </p:txBody>
      </p:sp>
      <p:sp>
        <p:nvSpPr>
          <p:cNvPr id="24" name="Text 15"/>
          <p:cNvSpPr/>
          <p:nvPr/>
        </p:nvSpPr>
        <p:spPr>
          <a:xfrm>
            <a:off x="6192782" y="6156226"/>
            <a:ext cx="539706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Practical AI enablement embedded in daily workflows and team practices.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01846" y="736798"/>
            <a:ext cx="1023217" cy="248245"/>
          </a:xfrm>
          <a:prstGeom prst="roundRect">
            <a:avLst>
              <a:gd name="adj" fmla="val 47387"/>
            </a:avLst>
          </a:prstGeom>
          <a:solidFill>
            <a:srgbClr val="4C1F0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72" y="795536"/>
            <a:ext cx="130668" cy="1306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95824" y="785813"/>
            <a:ext cx="1240799" cy="15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EXPERTISE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01846" y="1047055"/>
            <a:ext cx="6416118" cy="680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Agile Coaching Expertise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601846" y="1960562"/>
            <a:ext cx="6416118" cy="747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spcAft>
                <a:spcPts val="1350"/>
              </a:spcAft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Delivering structured, outcome-focused coaching engagements across all levels of the organization — from individual practitioners to C-suite leaders.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846" y="2882900"/>
            <a:ext cx="3130472" cy="13714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0403" y="3065264"/>
            <a:ext cx="2689555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Scrum Teams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860403" y="3498652"/>
            <a:ext cx="2689555" cy="573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Coaching squads to achieve high-performance delivery rhythms and self-organization.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7492" y="2882900"/>
            <a:ext cx="3130472" cy="137140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46049" y="3065264"/>
            <a:ext cx="2689555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Scrum Masters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4146049" y="3498652"/>
            <a:ext cx="2689555" cy="573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Developing servant leaders who remove impediments and foster continuous improvement.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1846" y="4409480"/>
            <a:ext cx="3130472" cy="171172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0403" y="4591844"/>
            <a:ext cx="2689555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Product Owners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860403" y="5025231"/>
            <a:ext cx="2689555" cy="573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Sharpening backlog mastery, stakeholder communication, and value-driven decision-making.</a:t>
            </a:r>
            <a:endParaRPr lang="en-US" sz="12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887492" y="4409480"/>
            <a:ext cx="3130472" cy="171172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146049" y="4591844"/>
            <a:ext cx="2689555" cy="68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RTEs &amp; Leadership Teams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4146049" y="5365552"/>
            <a:ext cx="2689555" cy="573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Executive and Release Train Engineer coaching for enterprise-scale agile delivery.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1846" y="506413"/>
            <a:ext cx="1513941" cy="248245"/>
          </a:xfrm>
          <a:prstGeom prst="roundRect">
            <a:avLst>
              <a:gd name="adj" fmla="val 47387"/>
            </a:avLst>
          </a:prstGeom>
          <a:solidFill>
            <a:srgbClr val="4C1F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72" y="565150"/>
            <a:ext cx="130668" cy="1306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5824" y="555427"/>
            <a:ext cx="1731522" cy="15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TRANSFORMATION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01846" y="816670"/>
            <a:ext cx="10988003" cy="680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Enterprise Agile Transformation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601846" y="1730177"/>
            <a:ext cx="1158984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End-to-end transformation engagements — from diagnostics and roadmaps to sustained organizational change.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46" y="2095798"/>
            <a:ext cx="3662668" cy="6534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5156" y="2904430"/>
            <a:ext cx="3336048" cy="68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Agile Maturity Assessments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65156" y="3678138"/>
            <a:ext cx="333604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Baseline current state across teams, processes, and culture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514" y="2095798"/>
            <a:ext cx="3662668" cy="6534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427824" y="2904430"/>
            <a:ext cx="3336048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Transformation Roadmaps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4427824" y="3337818"/>
            <a:ext cx="333604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Sequenced plans aligned to business priorities and capacity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181" y="2095798"/>
            <a:ext cx="3662668" cy="65345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90491" y="2904430"/>
            <a:ext cx="3336048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Value Stream Mapping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090491" y="3337818"/>
            <a:ext cx="333604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Identify waste, bottlenecks, and flow improvement opportunities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46" y="4223643"/>
            <a:ext cx="3662668" cy="65345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65156" y="5032276"/>
            <a:ext cx="3336048" cy="680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Lean Portfolio Management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765156" y="5805984"/>
            <a:ext cx="333604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Strategic alignment of funding, governance, and delivery</a:t>
            </a:r>
            <a:endParaRPr lang="en-US" sz="12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4514" y="4223643"/>
            <a:ext cx="3662668" cy="65345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427824" y="5032276"/>
            <a:ext cx="3336048" cy="340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OKR Alignment</a:t>
            </a:r>
            <a:endParaRPr lang="en-US" sz="2200" dirty="0"/>
          </a:p>
        </p:txBody>
      </p:sp>
      <p:sp>
        <p:nvSpPr>
          <p:cNvPr id="21" name="Text 13"/>
          <p:cNvSpPr/>
          <p:nvPr/>
        </p:nvSpPr>
        <p:spPr>
          <a:xfrm>
            <a:off x="4427824" y="5465663"/>
            <a:ext cx="3336048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Connecting team objectives to enterprise outcomes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173732" y="623193"/>
            <a:ext cx="1104376" cy="222151"/>
          </a:xfrm>
          <a:prstGeom prst="roundRect">
            <a:avLst>
              <a:gd name="adj" fmla="val 47379"/>
            </a:avLst>
          </a:prstGeom>
          <a:solidFill>
            <a:srgbClr val="4C1F0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439" y="675779"/>
            <a:ext cx="116877" cy="1168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36754" y="667048"/>
            <a:ext cx="1363232" cy="134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SCALED AGILE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5173732" y="894953"/>
            <a:ext cx="6416118" cy="609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Scaled Agile Expertise</a:t>
            </a:r>
            <a:endParaRPr lang="en-US" sz="3950" dirty="0"/>
          </a:p>
        </p:txBody>
      </p:sp>
      <p:sp>
        <p:nvSpPr>
          <p:cNvPr id="7" name="Text 3"/>
          <p:cNvSpPr/>
          <p:nvPr/>
        </p:nvSpPr>
        <p:spPr>
          <a:xfrm>
            <a:off x="5173732" y="1690390"/>
            <a:ext cx="6416118" cy="626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Deep hands-on experience facilitating and coaching at program and portfolio levels using SAFe and other scaling frameworks.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173732" y="2456458"/>
            <a:ext cx="328902" cy="328910"/>
          </a:xfrm>
          <a:prstGeom prst="roundRect">
            <a:avLst>
              <a:gd name="adj" fmla="val 40002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85885" y="2438152"/>
            <a:ext cx="304495" cy="3654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1</a:t>
            </a:r>
            <a:endParaRPr lang="en-US" sz="2350" dirty="0"/>
          </a:p>
        </p:txBody>
      </p:sp>
      <p:sp>
        <p:nvSpPr>
          <p:cNvPr id="10" name="Text 6"/>
          <p:cNvSpPr/>
          <p:nvPr/>
        </p:nvSpPr>
        <p:spPr>
          <a:xfrm>
            <a:off x="5626852" y="2511227"/>
            <a:ext cx="5962997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PI Planning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626852" y="2890242"/>
            <a:ext cx="5962997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1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Facilitating Program Increment planning events that align ARTs to business goals with clear iteration objectives and dependencies mapped.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173732" y="3463131"/>
            <a:ext cx="328902" cy="328910"/>
          </a:xfrm>
          <a:prstGeom prst="roundRect">
            <a:avLst>
              <a:gd name="adj" fmla="val 40002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85885" y="3444825"/>
            <a:ext cx="304495" cy="3654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2</a:t>
            </a:r>
            <a:endParaRPr lang="en-US" sz="2350" dirty="0"/>
          </a:p>
        </p:txBody>
      </p:sp>
      <p:sp>
        <p:nvSpPr>
          <p:cNvPr id="14" name="Text 10"/>
          <p:cNvSpPr/>
          <p:nvPr/>
        </p:nvSpPr>
        <p:spPr>
          <a:xfrm>
            <a:off x="5626852" y="3517900"/>
            <a:ext cx="5962997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ART Coordination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5626852" y="3896916"/>
            <a:ext cx="5962997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1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Guiding Agile Release Train ceremonies, cadences, and cross-team synchronization for seamless delivery flow.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173732" y="4469805"/>
            <a:ext cx="328902" cy="328910"/>
          </a:xfrm>
          <a:prstGeom prst="roundRect">
            <a:avLst>
              <a:gd name="adj" fmla="val 40002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85885" y="4451499"/>
            <a:ext cx="304495" cy="3654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3</a:t>
            </a:r>
            <a:endParaRPr lang="en-US" sz="2350" dirty="0"/>
          </a:p>
        </p:txBody>
      </p:sp>
      <p:sp>
        <p:nvSpPr>
          <p:cNvPr id="18" name="Text 14"/>
          <p:cNvSpPr/>
          <p:nvPr/>
        </p:nvSpPr>
        <p:spPr>
          <a:xfrm>
            <a:off x="5626852" y="4524573"/>
            <a:ext cx="5962997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Dependency Management</a:t>
            </a:r>
            <a:endParaRPr lang="en-US" sz="1950" dirty="0"/>
          </a:p>
        </p:txBody>
      </p:sp>
      <p:sp>
        <p:nvSpPr>
          <p:cNvPr id="19" name="Text 15"/>
          <p:cNvSpPr/>
          <p:nvPr/>
        </p:nvSpPr>
        <p:spPr>
          <a:xfrm>
            <a:off x="5626852" y="4903589"/>
            <a:ext cx="5962997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1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Visualizing and resolving cross-team and cross-ART dependencies to reduce delays and protect delivery commitments.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173732" y="5476478"/>
            <a:ext cx="328902" cy="328910"/>
          </a:xfrm>
          <a:prstGeom prst="roundRect">
            <a:avLst>
              <a:gd name="adj" fmla="val 40002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85885" y="5458172"/>
            <a:ext cx="304495" cy="3654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4</a:t>
            </a:r>
            <a:endParaRPr lang="en-US" sz="2350" dirty="0"/>
          </a:p>
        </p:txBody>
      </p:sp>
      <p:sp>
        <p:nvSpPr>
          <p:cNvPr id="22" name="Text 18"/>
          <p:cNvSpPr/>
          <p:nvPr/>
        </p:nvSpPr>
        <p:spPr>
          <a:xfrm>
            <a:off x="5626852" y="5531247"/>
            <a:ext cx="5962997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Inspect &amp; Adapt / Release Readiness</a:t>
            </a:r>
            <a:endParaRPr lang="en-US" sz="1950" dirty="0"/>
          </a:p>
        </p:txBody>
      </p:sp>
      <p:sp>
        <p:nvSpPr>
          <p:cNvPr id="23" name="Text 19"/>
          <p:cNvSpPr/>
          <p:nvPr/>
        </p:nvSpPr>
        <p:spPr>
          <a:xfrm>
            <a:off x="5626852" y="5910263"/>
            <a:ext cx="5962997" cy="324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1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Leading quantitative and qualitative retrospectives and ensuring release gates are met with confidence.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1846" y="971649"/>
            <a:ext cx="1182559" cy="261441"/>
          </a:xfrm>
          <a:prstGeom prst="roundRect">
            <a:avLst>
              <a:gd name="adj" fmla="val 47364"/>
            </a:avLst>
          </a:prstGeom>
          <a:solidFill>
            <a:srgbClr val="4C1F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031" y="1033562"/>
            <a:ext cx="137514" cy="1375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1301" y="1023243"/>
            <a:ext cx="1379503" cy="15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LEADERSHIP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1846" y="1301849"/>
            <a:ext cx="10988003" cy="716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7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Leadership Development</a:t>
            </a:r>
            <a:endParaRPr lang="en-US" sz="4700" dirty="0"/>
          </a:p>
        </p:txBody>
      </p:sp>
      <p:sp>
        <p:nvSpPr>
          <p:cNvPr id="6" name="Text 3"/>
          <p:cNvSpPr/>
          <p:nvPr/>
        </p:nvSpPr>
        <p:spPr>
          <a:xfrm>
            <a:off x="601846" y="2276376"/>
            <a:ext cx="1158984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Building leaders who can navigate complexity, inspire teams, and drive lasting organizational change.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01846" y="2676128"/>
            <a:ext cx="3547974" cy="1801316"/>
          </a:xfrm>
          <a:prstGeom prst="roundRect">
            <a:avLst>
              <a:gd name="adj" fmla="val 8593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0138" y="2854424"/>
            <a:ext cx="3191390" cy="364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🌱</a:t>
            </a:r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Servant Leadership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780138" y="3322141"/>
            <a:ext cx="3191390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Shifting mindsets from command-and-control to empowering, enabling leadership models that unlock team potential.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21761" y="2676128"/>
            <a:ext cx="3548073" cy="1801316"/>
          </a:xfrm>
          <a:prstGeom prst="roundRect">
            <a:avLst>
              <a:gd name="adj" fmla="val 8593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00053" y="2854424"/>
            <a:ext cx="3191490" cy="364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🔀</a:t>
            </a:r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Change Leadership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4500053" y="3322141"/>
            <a:ext cx="3191490" cy="825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Equipping leaders to champion transformation, manage resistance, and sustain new ways of working across the enterprise.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041776" y="2676128"/>
            <a:ext cx="3547974" cy="1801316"/>
          </a:xfrm>
          <a:prstGeom prst="roundRect">
            <a:avLst>
              <a:gd name="adj" fmla="val 8593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068" y="2854424"/>
            <a:ext cx="3191390" cy="722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Coaching Conversations</a:t>
            </a:r>
            <a:endParaRPr lang="en-US" sz="2350" dirty="0"/>
          </a:p>
        </p:txBody>
      </p:sp>
      <p:sp>
        <p:nvSpPr>
          <p:cNvPr id="15" name="Text 12"/>
          <p:cNvSpPr/>
          <p:nvPr/>
        </p:nvSpPr>
        <p:spPr>
          <a:xfrm>
            <a:off x="8220068" y="3680321"/>
            <a:ext cx="3191390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Building deep listening, powerful questioning, and feedback skills that grow individuals and elevate team performance.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1846" y="4649391"/>
            <a:ext cx="5407981" cy="1236861"/>
          </a:xfrm>
          <a:prstGeom prst="roundRect">
            <a:avLst>
              <a:gd name="adj" fmla="val 12514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0138" y="4827687"/>
            <a:ext cx="5051398" cy="364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Stakeholder Management</a:t>
            </a:r>
            <a:endParaRPr lang="en-US" sz="2350" dirty="0"/>
          </a:p>
        </p:txBody>
      </p:sp>
      <p:sp>
        <p:nvSpPr>
          <p:cNvPr id="18" name="Text 15"/>
          <p:cNvSpPr/>
          <p:nvPr/>
        </p:nvSpPr>
        <p:spPr>
          <a:xfrm>
            <a:off x="780138" y="5295404"/>
            <a:ext cx="5051398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Navigating complex stakeholder landscapes with clarity, influence, and executive-level communication strategies.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181769" y="4649391"/>
            <a:ext cx="5407981" cy="1236861"/>
          </a:xfrm>
          <a:prstGeom prst="roundRect">
            <a:avLst>
              <a:gd name="adj" fmla="val 12514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60060" y="4827687"/>
            <a:ext cx="5051398" cy="364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High Performing Teams</a:t>
            </a:r>
            <a:endParaRPr lang="en-US" sz="2350" dirty="0"/>
          </a:p>
        </p:txBody>
      </p:sp>
      <p:sp>
        <p:nvSpPr>
          <p:cNvPr id="21" name="Text 18"/>
          <p:cNvSpPr/>
          <p:nvPr/>
        </p:nvSpPr>
        <p:spPr>
          <a:xfrm>
            <a:off x="6360060" y="5295404"/>
            <a:ext cx="5051398" cy="41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Facilitating team dynamics, psychological safety, and collaboration frameworks that build sustained high performance.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601846" y="700286"/>
            <a:ext cx="994842" cy="182959"/>
          </a:xfrm>
          <a:prstGeom prst="roundRect">
            <a:avLst>
              <a:gd name="adj" fmla="val 47376"/>
            </a:avLst>
          </a:prstGeom>
          <a:solidFill>
            <a:srgbClr val="4C1F0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75" y="743645"/>
            <a:ext cx="96240" cy="962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8435" y="736402"/>
            <a:ext cx="131560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ENABLEMENT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601846" y="916880"/>
            <a:ext cx="6416118" cy="50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AI Enablement Programs</a:t>
            </a:r>
            <a:endParaRPr lang="en-US" sz="3250" dirty="0"/>
          </a:p>
        </p:txBody>
      </p:sp>
      <p:sp>
        <p:nvSpPr>
          <p:cNvPr id="7" name="Text 3"/>
          <p:cNvSpPr/>
          <p:nvPr/>
        </p:nvSpPr>
        <p:spPr>
          <a:xfrm>
            <a:off x="601846" y="1544836"/>
            <a:ext cx="6416118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spcAft>
                <a:spcPts val="700"/>
              </a:spcAft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Practical, role-based AI adoption programs designed to embed AI tools into everyday workflows — building capability, confidence, and competitive advantage.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01846" y="2186781"/>
            <a:ext cx="3061219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Program Portfolio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01846" y="2532360"/>
            <a:ext cx="240699" cy="144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01846" y="2718197"/>
            <a:ext cx="3061219" cy="12700"/>
          </a:xfrm>
          <a:prstGeom prst="rect">
            <a:avLst/>
          </a:prstGeom>
          <a:solidFill>
            <a:srgbClr val="FE6A03"/>
          </a:solidFill>
          <a:ln/>
        </p:spPr>
      </p:sp>
      <p:sp>
        <p:nvSpPr>
          <p:cNvPr id="11" name="Text 7"/>
          <p:cNvSpPr/>
          <p:nvPr/>
        </p:nvSpPr>
        <p:spPr>
          <a:xfrm>
            <a:off x="601846" y="2803723"/>
            <a:ext cx="3061219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AI for HR &amp; L&amp;D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01846" y="3138785"/>
            <a:ext cx="3061219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Automation, content creation &amp; talent analytics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01846" y="3436045"/>
            <a:ext cx="240699" cy="144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01846" y="3621881"/>
            <a:ext cx="3061219" cy="12700"/>
          </a:xfrm>
          <a:prstGeom prst="rect">
            <a:avLst/>
          </a:prstGeom>
          <a:solidFill>
            <a:srgbClr val="FE6A03"/>
          </a:solidFill>
          <a:ln/>
        </p:spPr>
      </p:sp>
      <p:sp>
        <p:nvSpPr>
          <p:cNvPr id="15" name="Text 11"/>
          <p:cNvSpPr/>
          <p:nvPr/>
        </p:nvSpPr>
        <p:spPr>
          <a:xfrm>
            <a:off x="601846" y="3707408"/>
            <a:ext cx="3061219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AI for Managers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01846" y="4042470"/>
            <a:ext cx="3061219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Decision support, productivity &amp; reporting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01846" y="4339729"/>
            <a:ext cx="240699" cy="144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01846" y="4525566"/>
            <a:ext cx="3061219" cy="12700"/>
          </a:xfrm>
          <a:prstGeom prst="rect">
            <a:avLst/>
          </a:prstGeom>
          <a:solidFill>
            <a:srgbClr val="FE6A03"/>
          </a:solidFill>
          <a:ln/>
        </p:spPr>
      </p:sp>
      <p:sp>
        <p:nvSpPr>
          <p:cNvPr id="19" name="Text 15"/>
          <p:cNvSpPr/>
          <p:nvPr/>
        </p:nvSpPr>
        <p:spPr>
          <a:xfrm>
            <a:off x="601846" y="4611092"/>
            <a:ext cx="3061219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AI for Agile Teams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01846" y="4946154"/>
            <a:ext cx="3061219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Sprint planning, retrospectives &amp; delivery insights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01846" y="5243413"/>
            <a:ext cx="240699" cy="144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 Light" pitchFamily="34" charset="0"/>
                <a:ea typeface="Inter Tight Light" pitchFamily="34" charset="-122"/>
                <a:cs typeface="Inter Tight Light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01846" y="5429250"/>
            <a:ext cx="3061219" cy="12700"/>
          </a:xfrm>
          <a:prstGeom prst="rect">
            <a:avLst/>
          </a:prstGeom>
          <a:solidFill>
            <a:srgbClr val="FE6A03"/>
          </a:solidFill>
          <a:ln/>
        </p:spPr>
      </p:sp>
      <p:sp>
        <p:nvSpPr>
          <p:cNvPr id="23" name="Text 19"/>
          <p:cNvSpPr/>
          <p:nvPr/>
        </p:nvSpPr>
        <p:spPr>
          <a:xfrm>
            <a:off x="601846" y="5514777"/>
            <a:ext cx="3061219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01846" y="5849838"/>
            <a:ext cx="3061219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Practical techniques for better AI outputs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963095" y="2186781"/>
            <a:ext cx="3061219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Tools Covered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3963095" y="2532360"/>
            <a:ext cx="3061219" cy="723900"/>
          </a:xfrm>
          <a:prstGeom prst="roundRect">
            <a:avLst>
              <a:gd name="adj" fmla="val 14967"/>
            </a:avLst>
          </a:prstGeom>
          <a:solidFill>
            <a:srgbClr val="000000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096144" y="2665413"/>
            <a:ext cx="2795121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ChatGPT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4096144" y="3000474"/>
            <a:ext cx="2795121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OpenAI's conversational AI for productivity &amp; content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963095" y="3340497"/>
            <a:ext cx="3061219" cy="723900"/>
          </a:xfrm>
          <a:prstGeom prst="roundRect">
            <a:avLst>
              <a:gd name="adj" fmla="val 14967"/>
            </a:avLst>
          </a:prstGeom>
          <a:solidFill>
            <a:srgbClr val="000000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096144" y="3473549"/>
            <a:ext cx="2795121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Claude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4096144" y="3808611"/>
            <a:ext cx="2795121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Anthropic's AI for reasoning, analysis &amp; writing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963095" y="4148634"/>
            <a:ext cx="3061219" cy="723900"/>
          </a:xfrm>
          <a:prstGeom prst="roundRect">
            <a:avLst>
              <a:gd name="adj" fmla="val 14967"/>
            </a:avLst>
          </a:prstGeom>
          <a:solidFill>
            <a:srgbClr val="000000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096144" y="4281686"/>
            <a:ext cx="2795121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✨</a:t>
            </a:r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Gemini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4096144" y="4616748"/>
            <a:ext cx="2795121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Google's multimodal AI for workspace integration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963095" y="4956770"/>
            <a:ext cx="3061219" cy="723900"/>
          </a:xfrm>
          <a:prstGeom prst="roundRect">
            <a:avLst>
              <a:gd name="adj" fmla="val 14967"/>
            </a:avLst>
          </a:prstGeom>
          <a:solidFill>
            <a:srgbClr val="000000">
              <a:alpha val="95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096144" y="5089823"/>
            <a:ext cx="2795121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📓</a:t>
            </a:r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NotebookLM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4096144" y="5424884"/>
            <a:ext cx="2795121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AI-powered research and knowledge synthesis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1846" y="520402"/>
            <a:ext cx="708503" cy="182959"/>
          </a:xfrm>
          <a:prstGeom prst="roundRect">
            <a:avLst>
              <a:gd name="adj" fmla="val 47376"/>
            </a:avLst>
          </a:prstGeom>
          <a:solidFill>
            <a:srgbClr val="4C1F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075" y="563761"/>
            <a:ext cx="96240" cy="962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8435" y="556518"/>
            <a:ext cx="102927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TRAINING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01846" y="736997"/>
            <a:ext cx="10988003" cy="50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Corporate Training Portfolio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601846" y="1364952"/>
            <a:ext cx="11589849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Structured, certification-aligned training programs delivered for corporates, cohorts, and individual practitioners — blending theory with real-world practice.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846" y="1582440"/>
            <a:ext cx="10988003" cy="722313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1783" y="1853307"/>
            <a:ext cx="180574" cy="18057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0277" y="1715492"/>
            <a:ext cx="10276523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Agile Foundations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180277" y="2016820"/>
            <a:ext cx="10276523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Core agile values, principles, and practices for teams new to agile ways of working.</a:t>
            </a:r>
            <a:endParaRPr lang="en-US" sz="9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846" y="2388989"/>
            <a:ext cx="10988003" cy="722313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1783" y="2659856"/>
            <a:ext cx="180574" cy="18057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0277" y="2522041"/>
            <a:ext cx="10276523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Scrum Master Program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1180277" y="2823369"/>
            <a:ext cx="10276523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Comprehensive Scrum Master training covering facilitation, coaching, and impediment removal.</a:t>
            </a:r>
            <a:endParaRPr lang="en-US" sz="9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1846" y="3195538"/>
            <a:ext cx="10988003" cy="722313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1783" y="3466405"/>
            <a:ext cx="180574" cy="18057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80277" y="3328591"/>
            <a:ext cx="10276523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Product Owner Excellence</a:t>
            </a:r>
            <a:endParaRPr lang="en-US" sz="1600" dirty="0"/>
          </a:p>
        </p:txBody>
      </p:sp>
      <p:sp>
        <p:nvSpPr>
          <p:cNvPr id="18" name="Text 9"/>
          <p:cNvSpPr/>
          <p:nvPr/>
        </p:nvSpPr>
        <p:spPr>
          <a:xfrm>
            <a:off x="1180277" y="3629918"/>
            <a:ext cx="10276523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Backlog management, stakeholder collaboration, and value-driven product thinking.</a:t>
            </a:r>
            <a:endParaRPr lang="en-US" sz="9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1846" y="4002088"/>
            <a:ext cx="10988003" cy="722313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1783" y="4272955"/>
            <a:ext cx="180574" cy="18057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180277" y="4135140"/>
            <a:ext cx="10276523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Scaled Agile Scrum Master</a:t>
            </a:r>
            <a:endParaRPr lang="en-US" sz="1600" dirty="0"/>
          </a:p>
        </p:txBody>
      </p:sp>
      <p:sp>
        <p:nvSpPr>
          <p:cNvPr id="22" name="Text 11"/>
          <p:cNvSpPr/>
          <p:nvPr/>
        </p:nvSpPr>
        <p:spPr>
          <a:xfrm>
            <a:off x="1180277" y="4436467"/>
            <a:ext cx="10276523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SAFe practitioner skills — ART ceremonies, PI Planning, and enterprise agile delivery.</a:t>
            </a:r>
            <a:endParaRPr lang="en-US" sz="90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01846" y="4808637"/>
            <a:ext cx="10988003" cy="722313"/>
          </a:xfrm>
          <a:prstGeom prst="rect">
            <a:avLst/>
          </a:prstGeom>
        </p:spPr>
      </p:pic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61783" y="5079504"/>
            <a:ext cx="180574" cy="180578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1180277" y="4941689"/>
            <a:ext cx="10276523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Leadership Development</a:t>
            </a:r>
            <a:endParaRPr lang="en-US" sz="1600" dirty="0"/>
          </a:p>
        </p:txBody>
      </p:sp>
      <p:sp>
        <p:nvSpPr>
          <p:cNvPr id="26" name="Text 13"/>
          <p:cNvSpPr/>
          <p:nvPr/>
        </p:nvSpPr>
        <p:spPr>
          <a:xfrm>
            <a:off x="1180277" y="5243016"/>
            <a:ext cx="10276523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Servant leadership, coaching conversations, and change leadership for senior managers.</a:t>
            </a:r>
            <a:endParaRPr lang="en-US" sz="90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01846" y="5615186"/>
            <a:ext cx="10988003" cy="722313"/>
          </a:xfrm>
          <a:prstGeom prst="rect">
            <a:avLst/>
          </a:prstGeom>
        </p:spPr>
      </p:pic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61783" y="5886053"/>
            <a:ext cx="180574" cy="180578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1180277" y="5748238"/>
            <a:ext cx="10276523" cy="250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AI Enablement Programs</a:t>
            </a:r>
            <a:endParaRPr lang="en-US" sz="1600" dirty="0"/>
          </a:p>
        </p:txBody>
      </p:sp>
      <p:sp>
        <p:nvSpPr>
          <p:cNvPr id="30" name="Text 15"/>
          <p:cNvSpPr/>
          <p:nvPr/>
        </p:nvSpPr>
        <p:spPr>
          <a:xfrm>
            <a:off x="1180277" y="6049566"/>
            <a:ext cx="10276523" cy="1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Role-based AI adoption for HR, Managers, and Agile Teams using modern AI tools.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846" y="830064"/>
            <a:ext cx="1158984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601846" y="1208286"/>
            <a:ext cx="10988003" cy="988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4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Let's Connect</a:t>
            </a:r>
            <a:endParaRPr lang="en-US" sz="6450" dirty="0"/>
          </a:p>
        </p:txBody>
      </p:sp>
      <p:sp>
        <p:nvSpPr>
          <p:cNvPr id="4" name="Text 2"/>
          <p:cNvSpPr/>
          <p:nvPr/>
        </p:nvSpPr>
        <p:spPr>
          <a:xfrm>
            <a:off x="601846" y="2455168"/>
            <a:ext cx="10988003" cy="100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FE6A03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Supra Sarita Dash</a:t>
            </a:r>
            <a:endParaRPr lang="en-US" sz="1350" dirty="0"/>
          </a:p>
          <a:p>
            <a:pPr algn="ctr" indent="0" marL="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sz="13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Founder, SuprBh Voyage LLP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1846" y="3697387"/>
            <a:ext cx="10988003" cy="19050"/>
          </a:xfrm>
          <a:prstGeom prst="roundRect">
            <a:avLst>
              <a:gd name="adj" fmla="val 49999"/>
            </a:avLst>
          </a:prstGeom>
          <a:solidFill>
            <a:srgbClr val="B5B5B5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97054" y="3952875"/>
            <a:ext cx="11597588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1846" y="4352627"/>
            <a:ext cx="3547974" cy="1030585"/>
          </a:xfrm>
          <a:prstGeom prst="roundRect">
            <a:avLst>
              <a:gd name="adj" fmla="val 15019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0138" y="4530923"/>
            <a:ext cx="3191390" cy="364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Website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780138" y="4998641"/>
            <a:ext cx="3191390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u="sng" dirty="0">
                <a:solidFill>
                  <a:srgbClr val="FE6A03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https://supra-bharat.com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21761" y="4352627"/>
            <a:ext cx="3548073" cy="1030585"/>
          </a:xfrm>
          <a:prstGeom prst="roundRect">
            <a:avLst>
              <a:gd name="adj" fmla="val 15019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0053" y="4530923"/>
            <a:ext cx="3191490" cy="364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💼</a:t>
            </a:r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LinkedIn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4500053" y="4998641"/>
            <a:ext cx="3191490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u="sng" dirty="0">
                <a:solidFill>
                  <a:srgbClr val="FE6A03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linkedin.com/in/supra-sarita-dash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1776" y="4352627"/>
            <a:ext cx="3547974" cy="1030585"/>
          </a:xfrm>
          <a:prstGeom prst="roundRect">
            <a:avLst>
              <a:gd name="adj" fmla="val 15019"/>
            </a:avLst>
          </a:prstGeom>
          <a:solidFill>
            <a:srgbClr val="1F1F1F"/>
          </a:solidFill>
          <a:ln w="6350">
            <a:solidFill>
              <a:srgbClr val="383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0068" y="4530923"/>
            <a:ext cx="3191390" cy="364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pPr algn="l" indent="0" marL="0">
              <a:lnSpc>
                <a:spcPct val="100000"/>
              </a:lnSpc>
              <a:buNone/>
            </a:pPr>
            <a:r>
              <a:rPr lang="en-US" sz="2350" dirty="0">
                <a:solidFill>
                  <a:srgbClr val="B5B5B5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 GitHub</a:t>
            </a:r>
            <a:endParaRPr lang="en-US" sz="2350" dirty="0"/>
          </a:p>
        </p:txBody>
      </p:sp>
      <p:sp>
        <p:nvSpPr>
          <p:cNvPr id="15" name="Text 13"/>
          <p:cNvSpPr/>
          <p:nvPr/>
        </p:nvSpPr>
        <p:spPr>
          <a:xfrm>
            <a:off x="8220068" y="4998641"/>
            <a:ext cx="3191390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u="sng" dirty="0">
                <a:solidFill>
                  <a:srgbClr val="FE6A03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github.com/SupraSaritaDash-SSD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01846" y="5576689"/>
            <a:ext cx="10988003" cy="606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spcAft>
                <a:spcPts val="1500"/>
              </a:spcAft>
              <a:buNone/>
            </a:pPr>
            <a:endParaRPr lang="en-US" sz="13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50" i="1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Transforming Teams • Developing Leaders • Enabling AI Adoption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E6A03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2026-08-20T05:25:38Z</dcterms:created>
  <dcterms:modified xsi:type="dcterms:W3CDTF">2026-08-20T05:25:38Z</dcterms:modified>
</cp:coreProperties>
</file>